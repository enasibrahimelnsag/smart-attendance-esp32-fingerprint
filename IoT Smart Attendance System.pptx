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8" r:id="rId7"/>
    <p:sldId id="260" r:id="rId8"/>
    <p:sldId id="266" r:id="rId9"/>
    <p:sldId id="270" r:id="rId10"/>
    <p:sldId id="267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2"/>
      <p:bold r:id="rId13"/>
    </p:embeddedFont>
    <p:embeddedFont>
      <p:font typeface="Liberation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282" y="-10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2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8074" cy="516174"/>
            </a:xfrm>
            <a:custGeom>
              <a:avLst/>
              <a:gdLst/>
              <a:ahLst/>
              <a:cxnLst/>
              <a:rect l="l" t="t" r="r" b="b"/>
              <a:pathLst>
                <a:path w="2028074" h="5161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895600" y="3739428"/>
            <a:ext cx="13111021" cy="296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5"/>
              </a:lnSpc>
            </a:pPr>
            <a:r>
              <a:rPr lang="en-US" sz="2845" b="1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Prepared By:</a:t>
            </a:r>
          </a:p>
          <a:p>
            <a:pPr marL="0" lvl="0" indent="0" algn="ctr">
              <a:lnSpc>
                <a:spcPts val="2845"/>
              </a:lnSpc>
            </a:pPr>
            <a:r>
              <a:rPr lang="en-US" sz="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07121" lvl="1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Ahmed Farghaly Khalaf                         Abdelhalim Mohammed Ibrahem</a:t>
            </a:r>
          </a:p>
          <a:p>
            <a:pPr marL="307121" lvl="1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Enas Ibrahem Ali                                   Amr Abdelbaky Mohammed</a:t>
            </a:r>
          </a:p>
          <a:p>
            <a:pPr marL="307121" lvl="1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Salma Amer Ahmed                              Abdelrahman Mohammed </a:t>
            </a:r>
            <a:r>
              <a:rPr lang="en-US" sz="2845" dirty="0" err="1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Farghal</a:t>
            </a:r>
            <a:endParaRPr lang="en-US" sz="2845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7917" lvl="1"/>
            <a:r>
              <a:rPr lang="en-US" sz="29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Malak Tamer Mohammed                   </a:t>
            </a:r>
            <a:r>
              <a:rPr lang="en-US" sz="32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Abdelrahman Esam Fathy </a:t>
            </a:r>
            <a:endParaRPr lang="en-US" sz="2945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7121" lvl="1" algn="l"/>
            <a:r>
              <a:rPr lang="en-US" sz="2845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Fatma Mohammed Helmy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83713" y="2107116"/>
            <a:ext cx="12141744" cy="161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62"/>
              </a:lnSpc>
            </a:pPr>
            <a:r>
              <a:rPr lang="en-US" sz="4616" b="1" spc="32" dirty="0">
                <a:solidFill>
                  <a:srgbClr val="193B6A"/>
                </a:solidFill>
                <a:latin typeface="+mj-lt"/>
                <a:ea typeface="Liberation Sans Bold"/>
                <a:cs typeface="Liberation Sans Bold"/>
                <a:sym typeface="Liberation Sans Bold"/>
              </a:rPr>
              <a:t>IOT Project: Smart Attendance System Using ESP32 and Fingerprint Sensor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EBABA38-2450-3C0D-471C-913833B51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308" y="347589"/>
            <a:ext cx="1388067" cy="141639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C35A9F6-B291-55A0-A807-1E24DAD82B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631" y="332565"/>
            <a:ext cx="1431419" cy="1431419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B4B74BD-3FBB-A377-3F4F-AB5EA3EA6D27}"/>
              </a:ext>
            </a:extLst>
          </p:cNvPr>
          <p:cNvCxnSpPr/>
          <p:nvPr/>
        </p:nvCxnSpPr>
        <p:spPr>
          <a:xfrm>
            <a:off x="3200400" y="6896100"/>
            <a:ext cx="112014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AFB8815-E15C-45D4-E9C6-743AE28531E2}"/>
              </a:ext>
            </a:extLst>
          </p:cNvPr>
          <p:cNvSpPr txBox="1"/>
          <p:nvPr/>
        </p:nvSpPr>
        <p:spPr>
          <a:xfrm>
            <a:off x="5943600" y="7124700"/>
            <a:ext cx="6629400" cy="18466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Under Supervision of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Dr. Enas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Elgeldaiwi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Dr. Sohair Kilany</a:t>
            </a:r>
          </a:p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Eng. Salman Mohammed</a:t>
            </a:r>
          </a:p>
          <a:p>
            <a:endParaRPr lang="ar-E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croll: Vertical 29">
            <a:extLst>
              <a:ext uri="{FF2B5EF4-FFF2-40B4-BE49-F238E27FC236}">
                <a16:creationId xmlns:a16="http://schemas.microsoft.com/office/drawing/2014/main" id="{5FF4A9A5-3926-9FC4-DCED-C6A5B516E6D2}"/>
              </a:ext>
            </a:extLst>
          </p:cNvPr>
          <p:cNvSpPr/>
          <p:nvPr/>
        </p:nvSpPr>
        <p:spPr>
          <a:xfrm>
            <a:off x="10339494" y="3240522"/>
            <a:ext cx="8005766" cy="4968988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16291173" y="8740686"/>
            <a:ext cx="968127" cy="53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</a:pPr>
            <a:r>
              <a:rPr lang="en-US" sz="3039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11023" y="2043318"/>
            <a:ext cx="10329387" cy="97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14"/>
              </a:lnSpc>
            </a:pPr>
            <a:r>
              <a:rPr lang="en-US" sz="5939" b="1" spc="41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The Problem Statement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613213" y="616919"/>
            <a:ext cx="3646087" cy="755351"/>
            <a:chOff x="0" y="-38100"/>
            <a:chExt cx="1105686" cy="229062"/>
          </a:xfrm>
        </p:grpSpPr>
        <p:sp>
          <p:nvSpPr>
            <p:cNvPr id="18" name="Freeform 18"/>
            <p:cNvSpPr/>
            <p:nvPr/>
          </p:nvSpPr>
          <p:spPr>
            <a:xfrm>
              <a:off x="13609" y="23111"/>
              <a:ext cx="1034307" cy="16785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Smart Attendance System</a:t>
              </a:r>
              <a:endParaRPr lang="ar-EG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Rectangle 1">
            <a:extLst>
              <a:ext uri="{FF2B5EF4-FFF2-40B4-BE49-F238E27FC236}">
                <a16:creationId xmlns:a16="http://schemas.microsoft.com/office/drawing/2014/main" id="{A5589362-1061-BDC1-8349-4611DA14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804" y="2963650"/>
            <a:ext cx="13539156" cy="384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36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36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Traditional attendance systems are time-consuming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High risk of fraud and proxy attendance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Difficult to track attendance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7CC9-38D7-8764-0AC0-35EB5585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croll: Vertical 29">
            <a:extLst>
              <a:ext uri="{FF2B5EF4-FFF2-40B4-BE49-F238E27FC236}">
                <a16:creationId xmlns:a16="http://schemas.microsoft.com/office/drawing/2014/main" id="{FD98CA92-2B9A-9D70-CB90-E4E9D457AE80}"/>
              </a:ext>
            </a:extLst>
          </p:cNvPr>
          <p:cNvSpPr/>
          <p:nvPr/>
        </p:nvSpPr>
        <p:spPr>
          <a:xfrm>
            <a:off x="10339494" y="3240522"/>
            <a:ext cx="8005766" cy="4968988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7211F12-B205-D2D9-EE3B-938EC6A6A005}"/>
              </a:ext>
            </a:extLst>
          </p:cNvPr>
          <p:cNvSpPr/>
          <p:nvPr/>
        </p:nvSpPr>
        <p:spPr>
          <a:xfrm>
            <a:off x="0" y="-5715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3676E8-D1F6-63B7-80B5-28CD805FE6FA}"/>
              </a:ext>
            </a:extLst>
          </p:cNvPr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E65278E-BBD5-64A1-6DAC-C0348A4FEB8B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FBB4EB-3C19-6978-2C6C-6E5D3D398FEC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A16365-948A-AE2F-B164-D6B9AADB7A38}"/>
              </a:ext>
            </a:extLst>
          </p:cNvPr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9ACED0B-5D12-1678-766A-A733A2B7075F}"/>
                </a:ext>
              </a:extLst>
            </p:cNvPr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05C4101-6496-6E41-633B-1FBA0917597A}"/>
                </a:ext>
              </a:extLst>
            </p:cNvPr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C78BB7D-4048-9FEF-11AC-C428FC7F3EC1}"/>
              </a:ext>
            </a:extLst>
          </p:cNvPr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E720A4-089C-7E6C-7497-A9DF124402C2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8A1C72B-07E0-3BFA-DED9-59426E733692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BFC2CCAB-8F91-A237-1C1A-1969A2AEAB61}"/>
              </a:ext>
            </a:extLst>
          </p:cNvPr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198593-4119-99E2-9203-BDD32A807169}"/>
              </a:ext>
            </a:extLst>
          </p:cNvPr>
          <p:cNvSpPr txBox="1"/>
          <p:nvPr/>
        </p:nvSpPr>
        <p:spPr>
          <a:xfrm>
            <a:off x="16291173" y="8740686"/>
            <a:ext cx="968127" cy="53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</a:pPr>
            <a:r>
              <a:rPr lang="en-US" sz="3039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3B3769A-C02E-B1E0-A599-33DFAB540D3A}"/>
              </a:ext>
            </a:extLst>
          </p:cNvPr>
          <p:cNvSpPr txBox="1"/>
          <p:nvPr/>
        </p:nvSpPr>
        <p:spPr>
          <a:xfrm>
            <a:off x="4523275" y="2621316"/>
            <a:ext cx="10329387" cy="97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14"/>
              </a:lnSpc>
            </a:pPr>
            <a:r>
              <a:rPr lang="en-US" sz="5939" b="1" spc="41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Idea / Solution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E385025-D24F-B54B-2BEC-E14E42FC125C}"/>
              </a:ext>
            </a:extLst>
          </p:cNvPr>
          <p:cNvGrpSpPr/>
          <p:nvPr/>
        </p:nvGrpSpPr>
        <p:grpSpPr>
          <a:xfrm>
            <a:off x="13613213" y="616919"/>
            <a:ext cx="3646087" cy="755351"/>
            <a:chOff x="0" y="-38100"/>
            <a:chExt cx="1105686" cy="229062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0AFC78-3481-A9AE-A952-9E8119AEFA27}"/>
                </a:ext>
              </a:extLst>
            </p:cNvPr>
            <p:cNvSpPr/>
            <p:nvPr/>
          </p:nvSpPr>
          <p:spPr>
            <a:xfrm>
              <a:off x="13609" y="23111"/>
              <a:ext cx="1034307" cy="16785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Smart Attendance System</a:t>
              </a:r>
              <a:endParaRPr lang="ar-EG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45E1627-BF09-B163-B703-FAAB3CDF95F4}"/>
                </a:ext>
              </a:extLst>
            </p:cNvPr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985B141-8F80-1F59-4026-EDA0D434341E}"/>
              </a:ext>
            </a:extLst>
          </p:cNvPr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0DC37A8-109F-D355-1F76-1CA0734273D8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49A026F-C011-A492-9C97-6C700731006C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2329B86-6862-46EC-7D5C-FD5F59E5534B}"/>
              </a:ext>
            </a:extLst>
          </p:cNvPr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8C87B850-8394-E260-EA99-C1FCA8A1C18D}"/>
                </a:ext>
              </a:extLst>
            </p:cNvPr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106954EA-C6E8-4FDA-ADB1-5B1D45F22255}"/>
                </a:ext>
              </a:extLst>
            </p:cNvPr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FFAE1C05-448B-A9D3-7AE6-9009061A3033}"/>
              </a:ext>
            </a:extLst>
          </p:cNvPr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A3399426-3AFF-DB07-C193-4F11ACAA0340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1FA56C3-66DC-9DDA-3516-D7E23C60C241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Rectangle 1">
            <a:extLst>
              <a:ext uri="{FF2B5EF4-FFF2-40B4-BE49-F238E27FC236}">
                <a16:creationId xmlns:a16="http://schemas.microsoft.com/office/drawing/2014/main" id="{9B482183-EDB0-D629-0A90-0B9F6E2F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804" y="3979313"/>
            <a:ext cx="381836" cy="1813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36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ar-EG" sz="4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C61F9426-54AA-2972-0C48-A8D120FD0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868" y="2941950"/>
            <a:ext cx="15166331" cy="402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4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Smart attendance system based on fingerprint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Each student uses a unique fingerprint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Attendance is recorded automtically in the system </a:t>
            </a:r>
          </a:p>
        </p:txBody>
      </p:sp>
    </p:spTree>
    <p:extLst>
      <p:ext uri="{BB962C8B-B14F-4D97-AF65-F5344CB8AC3E}">
        <p14:creationId xmlns:p14="http://schemas.microsoft.com/office/powerpoint/2010/main" val="363118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15" name="Group 15"/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291173" y="8740686"/>
            <a:ext cx="968127" cy="53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55"/>
              </a:lnSpc>
            </a:pPr>
            <a:r>
              <a:rPr lang="en-US" sz="3039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25920" y="1998445"/>
            <a:ext cx="10329388" cy="1018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11"/>
              </a:lnSpc>
            </a:pPr>
            <a:r>
              <a:rPr lang="en-US" sz="6222" b="1" spc="43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Project Architecture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0677" y="3277884"/>
            <a:ext cx="9408389" cy="562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Hardware Overview</a:t>
            </a:r>
          </a:p>
          <a:p>
            <a:pPr marL="0" lvl="0" indent="0" algn="l">
              <a:lnSpc>
                <a:spcPct val="150000"/>
              </a:lnSpc>
            </a:pP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Our system integrates the following components: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Microcontroller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ESP32 (Handles </a:t>
            </a:r>
            <a:r>
              <a:rPr lang="en-US" sz="2800" dirty="0" err="1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WiFi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and Logic).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Biometrics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Adafruit Fingerprint Sensor (Optical scanning).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Display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LCD 16x2 with I2C (User interface).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Cloud Integration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Google Apps Script (Web App URL).</a:t>
            </a:r>
          </a:p>
          <a:p>
            <a:pPr marL="461268" lvl="1" indent="-230634" algn="l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  <a:r>
              <a:rPr lang="en-US" sz="2800" dirty="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 Active Buzzer for different sound alerts.</a:t>
            </a:r>
          </a:p>
          <a:p>
            <a:pPr marL="0" lvl="0" indent="0" algn="l">
              <a:lnSpc>
                <a:spcPts val="2136"/>
              </a:lnSpc>
            </a:pPr>
            <a:endParaRPr lang="en-US" sz="2800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1136"/>
              </a:lnSpc>
            </a:pPr>
            <a:endParaRPr lang="en-US" sz="2800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704162" y="932080"/>
            <a:ext cx="3500599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19"/>
              </a:lnSpc>
            </a:pPr>
            <a:r>
              <a:rPr lang="en-US" sz="2219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C94D87-1CEA-B19F-2D2F-C941D65DF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049" y="3004258"/>
            <a:ext cx="4235605" cy="57260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954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 dirty="0"/>
          </a:p>
          <a:p>
            <a:endParaRPr lang="ar-EG" dirty="0"/>
          </a:p>
          <a:p>
            <a:endParaRPr lang="ar-EG" dirty="0"/>
          </a:p>
        </p:txBody>
      </p:sp>
      <p:grpSp>
        <p:nvGrpSpPr>
          <p:cNvPr id="15" name="Group 15"/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6291173" y="8750211"/>
            <a:ext cx="968127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1"/>
              </a:lnSpc>
            </a:pPr>
            <a:r>
              <a:rPr lang="en-US" sz="2672" b="1" spc="18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66045" y="1822489"/>
            <a:ext cx="1032938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5"/>
              </a:lnSpc>
            </a:pPr>
            <a:r>
              <a:rPr lang="en-US" sz="6000" b="1" spc="29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Components Used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69888" y="3024818"/>
            <a:ext cx="11996644" cy="5411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1. ESP32 Microcontroller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2. Fingerprint Sensor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3. Wi-Fi connection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4. Database (Sheets)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5. Power supply</a:t>
            </a:r>
          </a:p>
          <a:p>
            <a:pPr marL="0" lvl="0" indent="0" algn="l">
              <a:lnSpc>
                <a:spcPts val="2615"/>
              </a:lnSpc>
            </a:pPr>
            <a:endParaRPr lang="en-US" sz="2615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099891" y="981695"/>
            <a:ext cx="4538239" cy="177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"/>
              </a:lnSpc>
            </a:pPr>
            <a:r>
              <a:rPr lang="en-US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FF635F-04E0-D8A2-324A-470F9C39C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176" y="2676793"/>
            <a:ext cx="4424236" cy="6282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E94E-950E-4111-C2FC-14BADB16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69F059-968C-34D9-0890-90C29C94EDFF}"/>
              </a:ext>
            </a:extLst>
          </p:cNvPr>
          <p:cNvSpPr/>
          <p:nvPr/>
        </p:nvSpPr>
        <p:spPr>
          <a:xfrm>
            <a:off x="156565" y="-1377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32DB391-86ED-6160-0289-BA79BA0A8530}"/>
              </a:ext>
            </a:extLst>
          </p:cNvPr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725ADD-FDD7-42CA-1BF3-1DEF7586A605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FD916D3-06DD-CDAF-B710-B3B85AC1219D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6FAB547-D497-D762-C26C-A9A3B9AD4769}"/>
              </a:ext>
            </a:extLst>
          </p:cNvPr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1E490F7-8F30-9AF7-1C96-B5EF147E20C6}"/>
                </a:ext>
              </a:extLst>
            </p:cNvPr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2886F5-08C6-25C0-FA54-22BC85B0C297}"/>
                </a:ext>
              </a:extLst>
            </p:cNvPr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86BE41C-A441-EDF6-0A33-C4BBF0A122F3}"/>
              </a:ext>
            </a:extLst>
          </p:cNvPr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3B69957-F41F-0B65-A081-10B6EEF5126D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481CFFF-155D-E7C4-B8E1-8CAEC933295F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89E33655-F08E-2685-BB10-975461699623}"/>
              </a:ext>
            </a:extLst>
          </p:cNvPr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 dirty="0"/>
          </a:p>
          <a:p>
            <a:endParaRPr lang="ar-EG" dirty="0"/>
          </a:p>
          <a:p>
            <a:endParaRPr lang="ar-EG" dirty="0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A0E532A-AFAF-7B41-A586-26FE6CE9C1EF}"/>
              </a:ext>
            </a:extLst>
          </p:cNvPr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123D410-3E06-E569-7752-5D3F8277026D}"/>
                </a:ext>
              </a:extLst>
            </p:cNvPr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98AB9D8-C786-A91E-A745-1C6643D7050D}"/>
                </a:ext>
              </a:extLst>
            </p:cNvPr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19E0ABA-36D1-627D-4019-0EAB3D220023}"/>
              </a:ext>
            </a:extLst>
          </p:cNvPr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845B2AF-9CE8-6850-414C-C781A57D4206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3BE830B-9276-5D3F-AA68-D06671BB1211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D334D9F-1C80-1E5D-A907-DB677406D3C7}"/>
              </a:ext>
            </a:extLst>
          </p:cNvPr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E741985-3C4B-F448-4E42-349FDB01632F}"/>
                </a:ext>
              </a:extLst>
            </p:cNvPr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19455D5-38CB-51DB-FB78-1CB46980475D}"/>
                </a:ext>
              </a:extLst>
            </p:cNvPr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9180F26-86F5-34C7-AD9B-2D5CFA9A56C3}"/>
              </a:ext>
            </a:extLst>
          </p:cNvPr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839678E-9314-F281-D82C-7173D6733F70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6BC8DED6-21EF-2199-6979-E9FAEF939117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89E5423F-C35B-7EE7-6E44-458FB80087B1}"/>
              </a:ext>
            </a:extLst>
          </p:cNvPr>
          <p:cNvSpPr txBox="1"/>
          <p:nvPr/>
        </p:nvSpPr>
        <p:spPr>
          <a:xfrm>
            <a:off x="16291173" y="8750211"/>
            <a:ext cx="968127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1"/>
              </a:lnSpc>
            </a:pPr>
            <a:r>
              <a:rPr lang="en-US" sz="2672" b="1" spc="18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966331F-51DF-800A-ED74-200FD5C15F5F}"/>
              </a:ext>
            </a:extLst>
          </p:cNvPr>
          <p:cNvSpPr txBox="1"/>
          <p:nvPr/>
        </p:nvSpPr>
        <p:spPr>
          <a:xfrm>
            <a:off x="6066045" y="1822489"/>
            <a:ext cx="1032938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5"/>
              </a:lnSpc>
            </a:pPr>
            <a:r>
              <a:rPr lang="en-US" sz="6000" b="1" spc="29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How It Work (Flow)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6F15AFA-4BE1-DC28-DC24-A92C716597EF}"/>
              </a:ext>
            </a:extLst>
          </p:cNvPr>
          <p:cNvSpPr txBox="1"/>
          <p:nvPr/>
        </p:nvSpPr>
        <p:spPr>
          <a:xfrm>
            <a:off x="13099891" y="981695"/>
            <a:ext cx="4538239" cy="177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"/>
              </a:lnSpc>
            </a:pPr>
            <a:r>
              <a:rPr lang="en-US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grpSp>
        <p:nvGrpSpPr>
          <p:cNvPr id="31" name="Group 13">
            <a:extLst>
              <a:ext uri="{FF2B5EF4-FFF2-40B4-BE49-F238E27FC236}">
                <a16:creationId xmlns:a16="http://schemas.microsoft.com/office/drawing/2014/main" id="{0B07817E-92EF-29FB-3769-9DF03DCBA585}"/>
              </a:ext>
            </a:extLst>
          </p:cNvPr>
          <p:cNvGrpSpPr/>
          <p:nvPr/>
        </p:nvGrpSpPr>
        <p:grpSpPr>
          <a:xfrm>
            <a:off x="10631916" y="3155260"/>
            <a:ext cx="7430703" cy="4661397"/>
            <a:chOff x="0" y="0"/>
            <a:chExt cx="1151210" cy="722172"/>
          </a:xfrm>
        </p:grpSpPr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2564D9A7-8607-74AC-621A-7ABE15AE7B0E}"/>
                </a:ext>
              </a:extLst>
            </p:cNvPr>
            <p:cNvSpPr/>
            <p:nvPr/>
          </p:nvSpPr>
          <p:spPr>
            <a:xfrm>
              <a:off x="0" y="0"/>
              <a:ext cx="1151210" cy="722172"/>
            </a:xfrm>
            <a:custGeom>
              <a:avLst/>
              <a:gdLst/>
              <a:ahLst/>
              <a:cxnLst/>
              <a:rect l="l" t="t" r="r" b="b"/>
              <a:pathLst>
                <a:path w="1151210" h="722172">
                  <a:moveTo>
                    <a:pt x="0" y="0"/>
                  </a:moveTo>
                  <a:lnTo>
                    <a:pt x="1151210" y="0"/>
                  </a:lnTo>
                  <a:lnTo>
                    <a:pt x="1151210" y="722172"/>
                  </a:lnTo>
                  <a:lnTo>
                    <a:pt x="0" y="722172"/>
                  </a:lnTo>
                  <a:close/>
                </a:path>
              </a:pathLst>
            </a:custGeom>
            <a:blipFill>
              <a:blip r:embed="rId3"/>
              <a:stretch>
                <a:fillRect l="-5885" r="-5885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34" name="Rectangle 3">
            <a:extLst>
              <a:ext uri="{FF2B5EF4-FFF2-40B4-BE49-F238E27FC236}">
                <a16:creationId xmlns:a16="http://schemas.microsoft.com/office/drawing/2014/main" id="{5785CEB8-0EC6-F63D-3E82-E061A1702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9927" y="2256735"/>
            <a:ext cx="9205765" cy="521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4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User places fingerprint on the sensor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Sensor reads fingerprint data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ESP</a:t>
            </a:r>
            <a:r>
              <a:rPr lang="en-US" altLang="ar-EG" sz="4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32</a:t>
            </a: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verifies the fingerprint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If valid → attendance is recorded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Data is sent to the datbase via Wi-Fi </a:t>
            </a:r>
          </a:p>
        </p:txBody>
      </p:sp>
    </p:spTree>
    <p:extLst>
      <p:ext uri="{BB962C8B-B14F-4D97-AF65-F5344CB8AC3E}">
        <p14:creationId xmlns:p14="http://schemas.microsoft.com/office/powerpoint/2010/main" val="272099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929" y="-35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15" name="Group 15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291173" y="8740686"/>
            <a:ext cx="968127" cy="52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67"/>
              </a:lnSpc>
            </a:pPr>
            <a:r>
              <a:rPr lang="en-US" sz="2976" b="1" spc="2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95800" y="2614120"/>
            <a:ext cx="10329387" cy="66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6000" b="1" spc="25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System Architecture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92671" y="4159969"/>
            <a:ext cx="15773400" cy="939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Fingerprint Scan → ESP32 → Verification → Attendance Recorded → Sent to Sheets</a:t>
            </a:r>
          </a:p>
          <a:p>
            <a:pPr marL="0" lvl="0" indent="0" algn="ctr">
              <a:lnSpc>
                <a:spcPts val="2413"/>
              </a:lnSpc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ts val="2413"/>
              </a:lnSpc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roup 13">
            <a:extLst>
              <a:ext uri="{FF2B5EF4-FFF2-40B4-BE49-F238E27FC236}">
                <a16:creationId xmlns:a16="http://schemas.microsoft.com/office/drawing/2014/main" id="{A79CBEEF-8BAD-64FD-5E1D-07312AF4346E}"/>
              </a:ext>
            </a:extLst>
          </p:cNvPr>
          <p:cNvGrpSpPr/>
          <p:nvPr/>
        </p:nvGrpSpPr>
        <p:grpSpPr>
          <a:xfrm>
            <a:off x="6564019" y="4625736"/>
            <a:ext cx="7430703" cy="4661397"/>
            <a:chOff x="0" y="0"/>
            <a:chExt cx="1151210" cy="722172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665EA82E-1621-B931-FD24-2988A6DFC621}"/>
                </a:ext>
              </a:extLst>
            </p:cNvPr>
            <p:cNvSpPr/>
            <p:nvPr/>
          </p:nvSpPr>
          <p:spPr>
            <a:xfrm>
              <a:off x="0" y="0"/>
              <a:ext cx="1151210" cy="722172"/>
            </a:xfrm>
            <a:custGeom>
              <a:avLst/>
              <a:gdLst/>
              <a:ahLst/>
              <a:cxnLst/>
              <a:rect l="l" t="t" r="r" b="b"/>
              <a:pathLst>
                <a:path w="1151210" h="722172">
                  <a:moveTo>
                    <a:pt x="0" y="0"/>
                  </a:moveTo>
                  <a:lnTo>
                    <a:pt x="1151210" y="0"/>
                  </a:lnTo>
                  <a:lnTo>
                    <a:pt x="1151210" y="722172"/>
                  </a:lnTo>
                  <a:lnTo>
                    <a:pt x="0" y="722172"/>
                  </a:lnTo>
                  <a:close/>
                </a:path>
              </a:pathLst>
            </a:custGeom>
            <a:blipFill>
              <a:blip r:embed="rId3"/>
              <a:stretch>
                <a:fillRect l="-5885" r="-5885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16291173" y="8740686"/>
            <a:ext cx="968127" cy="54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1"/>
              </a:lnSpc>
            </a:pPr>
            <a:r>
              <a:rPr lang="en-US" sz="3136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7411" y="2253641"/>
            <a:ext cx="10329387" cy="94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16"/>
              </a:lnSpc>
            </a:pPr>
            <a:r>
              <a:rPr lang="en-US" sz="5797" b="1" spc="40" dirty="0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Benefits &amp; Key Features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55574" y="3697819"/>
            <a:ext cx="10329387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1. Fast attendance recording </a:t>
            </a:r>
          </a:p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2. Prevents cheating and impersonation </a:t>
            </a:r>
          </a:p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3. Real-time tracking </a:t>
            </a:r>
          </a:p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4. Easy user management (add/remove users) </a:t>
            </a:r>
          </a:p>
          <a:p>
            <a:pPr marL="0" lvl="0" indent="0" algn="l"/>
            <a:endParaRPr lang="en-US" sz="3600" dirty="0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744410" y="932334"/>
            <a:ext cx="3383691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20"/>
              </a:lnSpc>
            </a:pPr>
            <a:r>
              <a:rPr lang="en-US" sz="1820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grpSp>
        <p:nvGrpSpPr>
          <p:cNvPr id="21" name="Group 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FA6C9F9E-7B2B-52BE-617F-66998A184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173" y="3351064"/>
            <a:ext cx="5290027" cy="44026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82DC-8C5F-09A0-818D-59247157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037EA5-D50D-3177-2116-054670AF539A}"/>
              </a:ext>
            </a:extLst>
          </p:cNvPr>
          <p:cNvSpPr/>
          <p:nvPr/>
        </p:nvSpPr>
        <p:spPr>
          <a:xfrm>
            <a:off x="-24558" y="-69972"/>
            <a:ext cx="18288000" cy="1035697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3DFFD36-C47D-E31E-5AEF-C6F1D7CE25F1}"/>
              </a:ext>
            </a:extLst>
          </p:cNvPr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3DB734-A0F8-F751-3051-0183BB830D8B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5B04246-1C35-BFF9-BE9F-8CC679633479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D4DDAEA-374C-B708-7911-7FB37896AA51}"/>
              </a:ext>
            </a:extLst>
          </p:cNvPr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4C0D9ED-570F-A84C-068F-16C9D2D653A3}"/>
                </a:ext>
              </a:extLst>
            </p:cNvPr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C6A4E7F-71EA-3E5E-5E59-ED54B2E187F1}"/>
                </a:ext>
              </a:extLst>
            </p:cNvPr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752C373-842C-63A9-9D2F-FE1CFE80CC04}"/>
              </a:ext>
            </a:extLst>
          </p:cNvPr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9387792-74FB-0953-F86C-4E41B750F72C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B767289-E5B9-B572-3B52-AFB4BAC28D7A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7C9EC30E-1BD9-968A-E7C9-2E5C644EA3DF}"/>
              </a:ext>
            </a:extLst>
          </p:cNvPr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w="38100" cap="flat">
            <a:solidFill>
              <a:srgbClr val="346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2C13AC-DFAC-1C3E-4AB3-2422E04974E9}"/>
              </a:ext>
            </a:extLst>
          </p:cNvPr>
          <p:cNvSpPr txBox="1"/>
          <p:nvPr/>
        </p:nvSpPr>
        <p:spPr>
          <a:xfrm>
            <a:off x="16291173" y="8740686"/>
            <a:ext cx="968127" cy="54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1"/>
              </a:lnSpc>
            </a:pPr>
            <a:r>
              <a:rPr lang="en-US" sz="3136" b="1" spc="2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17C39A-67C7-EB77-C2A0-AEBBDC686DCB}"/>
              </a:ext>
            </a:extLst>
          </p:cNvPr>
          <p:cNvSpPr txBox="1"/>
          <p:nvPr/>
        </p:nvSpPr>
        <p:spPr>
          <a:xfrm>
            <a:off x="4416701" y="1578693"/>
            <a:ext cx="10329387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116"/>
              </a:lnSpc>
            </a:pPr>
            <a:r>
              <a:rPr lang="en-US" sz="7200" b="1" dirty="0">
                <a:solidFill>
                  <a:schemeClr val="tx2">
                    <a:lumMod val="75000"/>
                  </a:schemeClr>
                </a:solidFill>
              </a:rPr>
              <a:t>Conclusion</a:t>
            </a:r>
            <a:endParaRPr lang="en-US" sz="7200" b="1" spc="40" dirty="0">
              <a:solidFill>
                <a:schemeClr val="tx2">
                  <a:lumMod val="75000"/>
                </a:schemeClr>
              </a:solidFill>
              <a:latin typeface="Liberation Sans Bold"/>
              <a:ea typeface="Liberation Sans Bold"/>
              <a:cs typeface="Liberation Sans Bold"/>
              <a:sym typeface="Liberation Sans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2AFB027-B2EC-519B-0249-F0FCBF4657A9}"/>
              </a:ext>
            </a:extLst>
          </p:cNvPr>
          <p:cNvSpPr txBox="1"/>
          <p:nvPr/>
        </p:nvSpPr>
        <p:spPr>
          <a:xfrm>
            <a:off x="2707401" y="3032966"/>
            <a:ext cx="8440397" cy="4069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1. The system improves traditional attendance methods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2. Uses IoT and biometric technology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3. Scalable for schools, universities, and companies 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12F3C04-3554-A3F3-2C4B-DD3CEEF9EC82}"/>
              </a:ext>
            </a:extLst>
          </p:cNvPr>
          <p:cNvGrpSpPr/>
          <p:nvPr/>
        </p:nvGrpSpPr>
        <p:grpSpPr>
          <a:xfrm>
            <a:off x="13613213" y="742557"/>
            <a:ext cx="3646087" cy="610386"/>
            <a:chOff x="0" y="0"/>
            <a:chExt cx="1105686" cy="18510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903FE21-8C57-88C3-7DB7-69A5C89A603A}"/>
                </a:ext>
              </a:extLst>
            </p:cNvPr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3542BF2-936E-395D-A05B-9F5E02F23D04}"/>
                </a:ext>
              </a:extLst>
            </p:cNvPr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362E4CF-1F06-FFF8-1DE7-5572EB5726EA}"/>
              </a:ext>
            </a:extLst>
          </p:cNvPr>
          <p:cNvSpPr txBox="1"/>
          <p:nvPr/>
        </p:nvSpPr>
        <p:spPr>
          <a:xfrm>
            <a:off x="13744410" y="932334"/>
            <a:ext cx="3383691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20"/>
              </a:lnSpc>
            </a:pPr>
            <a:r>
              <a:rPr lang="en-US" sz="1820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A53F66FE-7F93-EF69-EB6E-F3D4229F06DC}"/>
              </a:ext>
            </a:extLst>
          </p:cNvPr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BFE9F83-2A7E-9178-28B6-88AE49A06A9A}"/>
                </a:ext>
              </a:extLst>
            </p:cNvPr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34F0BA3-037B-CD8A-C3FF-79FEB921D168}"/>
                </a:ext>
              </a:extLst>
            </p:cNvPr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181695C2-81D8-251C-D6C1-6081F931A42E}"/>
              </a:ext>
            </a:extLst>
          </p:cNvPr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C63DFB4-4DC1-A01F-25D6-62ED17091FB6}"/>
                </a:ext>
              </a:extLst>
            </p:cNvPr>
            <p:cNvSpPr/>
            <p:nvPr/>
          </p:nvSpPr>
          <p:spPr>
            <a:xfrm>
              <a:off x="0" y="0"/>
              <a:ext cx="2028074" cy="2393529"/>
            </a:xfrm>
            <a:custGeom>
              <a:avLst/>
              <a:gdLst/>
              <a:ahLst/>
              <a:cxnLst/>
              <a:rect l="l" t="t" r="r" b="b"/>
              <a:pathLst>
                <a:path w="2028074" h="2393529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36E4B9C3-631B-598D-34AA-D6E1B6CB546E}"/>
                </a:ext>
              </a:extLst>
            </p:cNvPr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3E1AC52E-165A-CFDA-E3B0-A713B90E4AE6}"/>
              </a:ext>
            </a:extLst>
          </p:cNvPr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FB012BB-65C0-0046-D9B4-F86265F21667}"/>
                </a:ext>
              </a:extLst>
            </p:cNvPr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E22CE80-C929-CB70-E26E-70FD239D2B17}"/>
                </a:ext>
              </a:extLst>
            </p:cNvPr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5BEB362-9DF0-6AB9-81F4-6F5F9F0D29FD}"/>
              </a:ext>
            </a:extLst>
          </p:cNvPr>
          <p:cNvSpPr txBox="1"/>
          <p:nvPr/>
        </p:nvSpPr>
        <p:spPr>
          <a:xfrm>
            <a:off x="4416701" y="7277100"/>
            <a:ext cx="472729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Link Drive:</a:t>
            </a:r>
            <a:endParaRPr lang="ar-EG" sz="3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422D87A-B230-9D60-23B5-8D297C742DF8}"/>
              </a:ext>
            </a:extLst>
          </p:cNvPr>
          <p:cNvSpPr/>
          <p:nvPr/>
        </p:nvSpPr>
        <p:spPr>
          <a:xfrm>
            <a:off x="3886200" y="8191500"/>
            <a:ext cx="609600" cy="436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282E31-7E08-0AA2-6949-383EB78B6012}"/>
              </a:ext>
            </a:extLst>
          </p:cNvPr>
          <p:cNvSpPr txBox="1"/>
          <p:nvPr/>
        </p:nvSpPr>
        <p:spPr>
          <a:xfrm>
            <a:off x="4648199" y="8245441"/>
            <a:ext cx="89650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https://drive.google.com/drive/folders/1pe-SdsFcskn32sEsonugbhUYkAukHsvc?usp=sharing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FF65702-6C8D-17A6-3524-AFFDF2AD1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297" y="2939449"/>
            <a:ext cx="7025512" cy="4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2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8074" cy="1832972"/>
            </a:xfrm>
            <a:custGeom>
              <a:avLst/>
              <a:gdLst/>
              <a:ahLst/>
              <a:cxnLst/>
              <a:rect l="l" t="t" r="r" b="b"/>
              <a:pathLst>
                <a:path w="2028074" h="1832972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8074" cy="3619970"/>
            </a:xfrm>
            <a:custGeom>
              <a:avLst/>
              <a:gdLst/>
              <a:ahLst/>
              <a:cxnLst/>
              <a:rect l="l" t="t" r="r" b="b"/>
              <a:pathLst>
                <a:path w="2028074" h="3619970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8074" cy="516174"/>
            </a:xfrm>
            <a:custGeom>
              <a:avLst/>
              <a:gdLst/>
              <a:ahLst/>
              <a:cxnLst/>
              <a:rect l="l" t="t" r="r" b="b"/>
              <a:pathLst>
                <a:path w="2028074" h="5161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28074" cy="519537"/>
            </a:xfrm>
            <a:custGeom>
              <a:avLst/>
              <a:gdLst/>
              <a:ahLst/>
              <a:cxnLst/>
              <a:rect l="l" t="t" r="r" b="b"/>
              <a:pathLst>
                <a:path w="2028074" h="519537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91614" y="8555494"/>
            <a:ext cx="5067686" cy="702806"/>
            <a:chOff x="0" y="0"/>
            <a:chExt cx="1334699" cy="1851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34699" cy="185101"/>
            </a:xfrm>
            <a:custGeom>
              <a:avLst/>
              <a:gdLst/>
              <a:ahLst/>
              <a:cxnLst/>
              <a:rect l="l" t="t" r="r" b="b"/>
              <a:pathLst>
                <a:path w="1334699" h="185101">
                  <a:moveTo>
                    <a:pt x="92551" y="0"/>
                  </a:moveTo>
                  <a:lnTo>
                    <a:pt x="1242149" y="0"/>
                  </a:lnTo>
                  <a:cubicBezTo>
                    <a:pt x="1266694" y="0"/>
                    <a:pt x="1290235" y="9751"/>
                    <a:pt x="1307592" y="27107"/>
                  </a:cubicBezTo>
                  <a:cubicBezTo>
                    <a:pt x="1324948" y="44464"/>
                    <a:pt x="1334699" y="68005"/>
                    <a:pt x="1334699" y="92551"/>
                  </a:cubicBezTo>
                  <a:lnTo>
                    <a:pt x="1334699" y="92551"/>
                  </a:lnTo>
                  <a:cubicBezTo>
                    <a:pt x="1334699" y="143665"/>
                    <a:pt x="1293263" y="185101"/>
                    <a:pt x="1242149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34699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699" y="1013071"/>
            <a:ext cx="4198153" cy="702806"/>
            <a:chOff x="0" y="0"/>
            <a:chExt cx="1105686" cy="1851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5686" cy="185101"/>
            </a:xfrm>
            <a:custGeom>
              <a:avLst/>
              <a:gdLst/>
              <a:ahLst/>
              <a:cxnLst/>
              <a:rect l="l" t="t" r="r" b="b"/>
              <a:pathLst>
                <a:path w="1105686" h="185101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32672" y="3972757"/>
            <a:ext cx="13022655" cy="2065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474"/>
              </a:lnSpc>
            </a:pPr>
            <a:r>
              <a:rPr lang="en-US" sz="11767" b="1" spc="8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THANK YOU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83206" y="8692803"/>
            <a:ext cx="468450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7"/>
              </a:lnSpc>
            </a:pPr>
            <a:r>
              <a:rPr lang="en-US" sz="2777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Smart Attendance System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0826" y="1172036"/>
            <a:ext cx="3593901" cy="38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7"/>
              </a:lnSpc>
            </a:pPr>
            <a:r>
              <a:rPr lang="en-US" sz="2777" dirty="0">
                <a:solidFill>
                  <a:srgbClr val="F2F2F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357</Words>
  <Application>Microsoft Office PowerPoint</Application>
  <PresentationFormat>Custom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Liberation Sans Bold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Smart Attendance System</dc:title>
  <cp:lastModifiedBy>ايناس ابراهيم علي حسن</cp:lastModifiedBy>
  <cp:revision>6</cp:revision>
  <dcterms:created xsi:type="dcterms:W3CDTF">2006-08-16T00:00:00Z</dcterms:created>
  <dcterms:modified xsi:type="dcterms:W3CDTF">2026-05-11T03:24:37Z</dcterms:modified>
  <dc:identifier>DAHGpy8o8Lg</dc:identifier>
</cp:coreProperties>
</file>